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5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926080" cy="41148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TUGAS BESAR 1 · JST (IT6053)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Klasifikasi Kualitas Kentang:</a:t>
            </a:r>
            <a:br/>
            <a:r>
              <a:t>Perceptron vs ADALINE</a:t>
            </a:r>
          </a:p>
          <a:p>
            <a:pPr>
              <a:defRPr sz="1800">
                <a:solidFill>
                  <a:srgbClr val="A0A0A0"/>
                </a:solidFill>
              </a:defRPr>
            </a:pPr>
            <a:r>
              <a:t>Analisis komparatif arsitektur single-layer neuron pada data citra fitur warna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5120640" cy="20116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TIM PENYUSUN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Hansel Ivano Supratman </a:t>
            </a:r>
            <a:r>
              <a:rPr b="0">
                <a:solidFill>
                  <a:srgbClr val="DDDDDD"/>
                </a:solidFill>
              </a:rPr>
              <a:t>· NIM 71231039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Nicolas Krisna Prawirajati </a:t>
            </a:r>
            <a:r>
              <a:rPr b="0">
                <a:solidFill>
                  <a:srgbClr val="DDDDDD"/>
                </a:solidFill>
              </a:rPr>
              <a:t>· NIM 71231019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Program Studi Informatika </a:t>
            </a:r>
            <a:r>
              <a:rPr b="0">
                <a:solidFill>
                  <a:srgbClr val="DDDDDD"/>
                </a:solidFill>
              </a:rPr>
              <a:t>· UKDW Yogyakarta (2026)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3931920"/>
            <a:ext cx="5212080" cy="20116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RINGKASAN PROYEK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Problem: </a:t>
            </a:r>
            <a:r>
              <a:rPr b="0">
                <a:solidFill>
                  <a:srgbClr val="DDDDDD"/>
                </a:solidFill>
              </a:rPr>
              <a:t>Sortir otomatis Good vs Rotten berbasis 2 fitur warna.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Model: </a:t>
            </a:r>
            <a:r>
              <a:rPr b="0">
                <a:solidFill>
                  <a:srgbClr val="DDDDDD"/>
                </a:solidFill>
              </a:rPr>
              <a:t>Perceptron (discrete error) vs ADALINE (linear error).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Hasil Akhir: </a:t>
            </a:r>
            <a:r>
              <a:rPr b="0">
                <a:solidFill>
                  <a:srgbClr val="DDDDDD"/>
                </a:solidFill>
              </a:rPr>
              <a:t>Akurasi uji 96,67% (58/60) dengan standardisasi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645920" cy="3657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4114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Masalah &amp; Karakteristik Data Kentang</a:t>
            </a:r>
          </a:p>
          <a:p>
            <a:pPr>
              <a:defRPr sz="1200">
                <a:solidFill>
                  <a:srgbClr val="A0A0A0"/>
                </a:solidFill>
                <a:latin typeface="Arial"/>
              </a:defRPr>
            </a:pPr>
            <a:r>
              <a:t>Potato Quality Dataset: Good vs Rotten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219456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MASALAH &amp; TUJUAN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Sortir Manual Subjektif: </a:t>
            </a:r>
            <a:r>
              <a:rPr b="0">
                <a:solidFill>
                  <a:srgbClr val="DDDDDD"/>
                </a:solidFill>
              </a:rPr>
              <a:t>Sortir visual kentang lambat &amp; rawan salah.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Tujuan Sistem: </a:t>
            </a:r>
            <a:r>
              <a:rPr b="0">
                <a:solidFill>
                  <a:srgbClr val="DDDDDD"/>
                </a:solidFill>
              </a:rPr>
              <a:t>Klasifikasi biner otomatis Good (+1) vs Rotten (-1).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Rumusan Masalah: </a:t>
            </a:r>
            <a:r>
              <a:rPr b="0">
                <a:solidFill>
                  <a:srgbClr val="DDDDDD"/>
                </a:solidFill>
              </a:rPr>
              <a:t>Uji apakah arsitektur neuron tunggal mampu memisahkan kualitas secara andal.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212080" cy="219456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PROFIL DATASET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Populasi Data: </a:t>
            </a:r>
            <a:r>
              <a:rPr b="0">
                <a:solidFill>
                  <a:srgbClr val="DDDDDD"/>
                </a:solidFill>
              </a:rPr>
              <a:t>300 sampel (150 Good, 150 Rotten). 0 missing / 0 duplikat.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Fitur Dipakai: </a:t>
            </a:r>
            <a:r>
              <a:rPr b="0">
                <a:solidFill>
                  <a:srgbClr val="DDDDDD"/>
                </a:solidFill>
              </a:rPr>
              <a:t>2 fitur warna: mean_red &amp; mean_green.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Split 80 : 20: </a:t>
            </a:r>
            <a:r>
              <a:rPr b="0">
                <a:solidFill>
                  <a:srgbClr val="DDDDDD"/>
                </a:solidFill>
              </a:rPr>
              <a:t>Train 240 sampel (120/120), Test 60 sampel (30/30) stratified.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6858000" cy="2560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863840" y="3657600"/>
            <a:ext cx="3566160" cy="256032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TEMUAN DISTRIBUSI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Overlap Perbatasan: </a:t>
            </a:r>
            <a:r>
              <a:rPr b="0">
                <a:solidFill>
                  <a:srgbClr val="DDDDDD"/>
                </a:solidFill>
              </a:rPr>
              <a:t>Nilai mean_red &amp; green bertumpuk di area tengah.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Statistik mean_red: </a:t>
            </a:r>
            <a:r>
              <a:rPr b="0">
                <a:solidFill>
                  <a:srgbClr val="DDDDDD"/>
                </a:solidFill>
              </a:rPr>
              <a:t>Rotten = 90.5 ± 18.3 | Good = 141.4 ± 16.0.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Kesimpulan Data: </a:t>
            </a:r>
            <a:r>
              <a:rPr b="0">
                <a:solidFill>
                  <a:srgbClr val="DDDDDD"/>
                </a:solidFill>
              </a:rPr>
              <a:t>Hampir terpisah linear, tapi TIDAK sempurna.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645920" cy="3657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 · FORMULASI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4114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Perceptron vs ADALINE: Beda Mekanisme Belajar</a:t>
            </a:r>
          </a:p>
          <a:p>
            <a:pPr>
              <a:defRPr sz="1200">
                <a:solidFill>
                  <a:srgbClr val="A0A0A0"/>
                </a:solidFill>
                <a:latin typeface="Arial"/>
              </a:defRPr>
            </a:pPr>
            <a:r>
              <a:t>Persamaan z = wᵀx + b dengan pendekatan koreksi bobot berbeda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937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PERCEPTRON (Rosenblatt 1958)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Model Update: </a:t>
            </a:r>
            <a:r>
              <a:rPr b="0">
                <a:solidFill>
                  <a:srgbClr val="DDDDDD"/>
                </a:solidFill>
              </a:rPr>
              <a:t>Per-sample / Online update (satu demi satu sampel).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Rumus Prediksi: </a:t>
            </a:r>
            <a:r>
              <a:rPr b="0">
                <a:solidFill>
                  <a:srgbClr val="DDDDDD"/>
                </a:solidFill>
              </a:rPr>
              <a:t>ŷ = +1 jika z ≥ 0, selain itu -1.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Sinyal Galat Diskrit: </a:t>
            </a:r>
            <a:r>
              <a:rPr b="0">
                <a:solidFill>
                  <a:srgbClr val="DDDDDD"/>
                </a:solidFill>
              </a:rPr>
              <a:t>Δ = η (y - ŷ)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Sifat Koreksi: </a:t>
            </a:r>
            <a:r>
              <a:rPr b="0">
                <a:solidFill>
                  <a:srgbClr val="DDDDDD"/>
                </a:solidFill>
              </a:rPr>
              <a:t>Hanya belajar saat SALAH (galat diskrit ±2). Bila benar, bobot sama sekali tidak disentuh.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Pengaruh η: </a:t>
            </a:r>
            <a:r>
              <a:rPr b="0">
                <a:solidFill>
                  <a:srgbClr val="DDDDDD"/>
                </a:solidFill>
              </a:rPr>
              <a:t>η hanya mengubah skala vektor bobot, tidak mengubah arah garis batas keputusan sama sekali.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Risiko: </a:t>
            </a:r>
            <a:r>
              <a:rPr b="0">
                <a:solidFill>
                  <a:srgbClr val="DDDDDD"/>
                </a:solidFill>
              </a:rPr>
              <a:t>Bila data tidak separable linear sempurna, update akan berosilasi selamanya (tidak konvergen).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280160"/>
            <a:ext cx="5212080" cy="4937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ADALINE (Widrow &amp; Hoff 1960)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Model Update: </a:t>
            </a:r>
            <a:r>
              <a:rPr b="0">
                <a:solidFill>
                  <a:srgbClr val="DDDDDD"/>
                </a:solidFill>
              </a:rPr>
              <a:t>Batch update (seluruh sampel sekaligus per epoch).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Rumus Prediksi: </a:t>
            </a:r>
            <a:r>
              <a:rPr b="0">
                <a:solidFill>
                  <a:srgbClr val="DDDDDD"/>
                </a:solidFill>
              </a:rPr>
              <a:t>ŷ = +1 jika z ≥ 0 (tapi saat belajar memakai z linear).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Sinyal Galat Kontinu: </a:t>
            </a:r>
            <a:r>
              <a:rPr b="0">
                <a:solidFill>
                  <a:srgbClr val="DDDDDD"/>
                </a:solidFill>
              </a:rPr>
              <a:t>e = y - z  (error linear kontinu)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Fungsi Objektif: </a:t>
            </a:r>
            <a:r>
              <a:rPr b="0">
                <a:solidFill>
                  <a:srgbClr val="DDDDDD"/>
                </a:solidFill>
              </a:rPr>
              <a:t>Meminimalkan Mean Squared Error (MSE): J = 1/(2n) Σ (y - z)²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Pengaruh η: </a:t>
            </a:r>
            <a:r>
              <a:rPr b="0">
                <a:solidFill>
                  <a:srgbClr val="DDDDDD"/>
                </a:solidFill>
              </a:rPr>
              <a:t>Krusial! Mengatur laju konvergensi menuju titik minimum global kuadratik.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Kelebihan: </a:t>
            </a:r>
            <a:r>
              <a:rPr b="0">
                <a:solidFill>
                  <a:srgbClr val="DDDDDD"/>
                </a:solidFill>
              </a:rPr>
              <a:t>Konvergen stabil ke kuadrat terkecil meskipun data tumpang tindih.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645920" cy="3657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 · EVALUASI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4114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Hasil Pelatihan: Data Terstandardisasi</a:t>
            </a:r>
          </a:p>
          <a:p>
            <a:pPr>
              <a:defRPr sz="1200">
                <a:solidFill>
                  <a:srgbClr val="A0A0A0"/>
                </a:solidFill>
                <a:latin typeface="Arial"/>
              </a:defRPr>
            </a:pPr>
            <a:r>
              <a:t>Epoch 50, variasi learning rate η ∈ {0.001, 0.01, 0.1}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2468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63840" y="1280160"/>
            <a:ext cx="356616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ANALISIS KURVA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Perceptron (Kiri): </a:t>
            </a:r>
            <a:r>
              <a:rPr b="0">
                <a:solidFill>
                  <a:srgbClr val="DDDDDD"/>
                </a:solidFill>
              </a:rPr>
              <a:t>Pembaruan salah stagnan di ~10 update/epoch. Ketiga garis η berimpit total.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ADALINE (Kanan): </a:t>
            </a:r>
            <a:r>
              <a:rPr b="0">
                <a:solidFill>
                  <a:srgbClr val="DDDDDD"/>
                </a:solidFill>
              </a:rPr>
              <a:t>Fungsi rugi J turun mulus konvergen. η=0.1 paling cepat (J=0.1024).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338328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PERFORMA TEST (60 DATA)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Akurasi Uji: </a:t>
            </a:r>
            <a:r>
              <a:rPr b="0">
                <a:solidFill>
                  <a:srgbClr val="DDDDDD"/>
                </a:solidFill>
              </a:rPr>
              <a:t>96,67% (58 / 60 benar)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True Negative: </a:t>
            </a:r>
            <a:r>
              <a:rPr b="0">
                <a:solidFill>
                  <a:srgbClr val="DDDDDD"/>
                </a:solidFill>
              </a:rPr>
              <a:t>29 kentang busuk tepat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True Positive: </a:t>
            </a:r>
            <a:r>
              <a:rPr b="0">
                <a:solidFill>
                  <a:srgbClr val="DDDDDD"/>
                </a:solidFill>
              </a:rPr>
              <a:t>29 kentang bagus tepat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Galat Uji: </a:t>
            </a:r>
            <a:r>
              <a:rPr b="0">
                <a:solidFill>
                  <a:srgbClr val="DDDDDD"/>
                </a:solidFill>
              </a:rPr>
              <a:t>1 FP + 1 FN (2 kentang)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3931920"/>
            <a:ext cx="347472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BOBOT MODEL (η=0.01)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Perceptron Final: </a:t>
            </a:r>
            <a:r>
              <a:rPr b="0">
                <a:solidFill>
                  <a:srgbClr val="DDDDDD"/>
                </a:solidFill>
              </a:rPr>
              <a:t>w = [0.0202, 0.0135], b = 0.0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ADALINE Final: </a:t>
            </a:r>
            <a:r>
              <a:rPr b="0">
                <a:solidFill>
                  <a:srgbClr val="DDDDDD"/>
                </a:solidFill>
              </a:rPr>
              <a:t>w = [0.2917, 0.2594], b = 0.0039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Rasio Fitur w1/w2: </a:t>
            </a:r>
            <a:r>
              <a:rPr b="0">
                <a:solidFill>
                  <a:srgbClr val="DDDDDD"/>
                </a:solidFill>
              </a:rPr>
              <a:t>Perceptron: 1.49 | ADALINE: 1.12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Arti Bobot: </a:t>
            </a:r>
            <a:r>
              <a:rPr b="0">
                <a:solidFill>
                  <a:srgbClr val="DDDDDD"/>
                </a:solidFill>
              </a:rPr>
              <a:t>Fitur red punya pengaruh sedikit lebih besar.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3931920"/>
            <a:ext cx="329184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KESIMPULAN METRIK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Akurasi Kembar: </a:t>
            </a:r>
            <a:r>
              <a:rPr b="0">
                <a:solidFill>
                  <a:srgbClr val="DDDDDD"/>
                </a:solidFill>
              </a:rPr>
              <a:t>Kedua model menghasilkan prediksi 100% identik pada uji.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Pembeda Utama: </a:t>
            </a:r>
            <a:r>
              <a:rPr b="0">
                <a:solidFill>
                  <a:srgbClr val="DDDDDD"/>
                </a:solidFill>
              </a:rPr>
              <a:t>Proses optimasi: threshold error vs gradient descent linear.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645920" cy="3657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 · STANDARDISASI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4114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Mengapa Standardisasi Wajib?</a:t>
            </a:r>
          </a:p>
          <a:p>
            <a:pPr>
              <a:defRPr sz="1200">
                <a:solidFill>
                  <a:srgbClr val="A0A0A0"/>
                </a:solidFill>
                <a:latin typeface="Arial"/>
              </a:defRPr>
            </a:pPr>
            <a:r>
              <a:t>Eksperimen fitur skala mentah (raw RGB 30-190) vs Z-score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858000" cy="2468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863840" y="1280160"/>
            <a:ext cx="356616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DAMPAK RAW FEATURE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Perceptron Kacau: </a:t>
            </a:r>
            <a:r>
              <a:rPr b="0">
                <a:solidFill>
                  <a:srgbClr val="DDDDDD"/>
                </a:solidFill>
              </a:rPr>
              <a:t>Pembaruan salah meledak &amp; berfluktuasi liar tiap epoch.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ADALINE Divergen: </a:t>
            </a:r>
            <a:r>
              <a:rPr b="0">
                <a:solidFill>
                  <a:srgbClr val="DDDDDD"/>
                </a:solidFill>
              </a:rPr>
              <a:t>Nilai J melonjak eksponensial (sumbu log 10⁴⁰+) hingga NaN/overflow!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512064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AKIBAT TANPA STANDARDISASI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Skala Data Mentah: </a:t>
            </a:r>
            <a:r>
              <a:rPr b="0">
                <a:solidFill>
                  <a:srgbClr val="DDDDDD"/>
                </a:solidFill>
              </a:rPr>
              <a:t>Rentang nilai pixel 30–190 menghasilkan gradien sangat masif.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Akurasi Anjlok: </a:t>
            </a:r>
            <a:r>
              <a:rPr b="0">
                <a:solidFill>
                  <a:srgbClr val="DDDDDD"/>
                </a:solidFill>
              </a:rPr>
              <a:t>Akurasi Perceptron turun dari 96.67% ke 45.00% – 50.00% (seperti tebak koin).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Gagal Belajar: </a:t>
            </a:r>
            <a:r>
              <a:rPr b="0">
                <a:solidFill>
                  <a:srgbClr val="DDDDDD"/>
                </a:solidFill>
              </a:rPr>
              <a:t>Bobot melonjak tidak terkendali melampaui rentang solusi.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31920"/>
            <a:ext cx="521208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INSIGHT KUNCI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Standardisasi Fitur Adalah Kunci: </a:t>
            </a:r>
            <a:r>
              <a:rPr b="0">
                <a:solidFill>
                  <a:srgbClr val="DDDDDD"/>
                </a:solidFill>
              </a:rPr>
              <a:t>Z-score scaling (mean=0, std=1) wajib untuk algoritma berbasis gradien.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Stabilitas Matematika: </a:t>
            </a:r>
            <a:r>
              <a:rPr b="0">
                <a:solidFill>
                  <a:srgbClr val="DDDDDD"/>
                </a:solidFill>
              </a:rPr>
              <a:t>Mencegah permukaan error melar eliptis ekstrem sehingga learning rate wajar dapat konvergen.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645920" cy="3657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 ·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4114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Visualisasi Garis Batas Keputusan</a:t>
            </a:r>
          </a:p>
          <a:p>
            <a:pPr>
              <a:defRPr sz="1200">
                <a:solidFill>
                  <a:srgbClr val="A0A0A0"/>
                </a:solidFill>
                <a:latin typeface="Arial"/>
              </a:defRPr>
            </a:pPr>
            <a:r>
              <a:t>Garis pemisah z = w₁x₁ + w₂x₂ + b = 0 pada data uji</a:t>
            </a:r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2468880"/>
          </a:xfrm>
          <a:prstGeom prst="rect">
            <a:avLst/>
          </a:prstGeom>
        </p:spPr>
      </p:pic>
      <p:pic>
        <p:nvPicPr>
          <p:cNvPr id="5" name="Picture 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80160"/>
            <a:ext cx="4114800" cy="2468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3931920"/>
            <a:ext cx="512064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BOUNDARY TERSTANDARISASI (KIRI)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Kemiringan Serupa: </a:t>
            </a:r>
            <a:r>
              <a:rPr b="0">
                <a:solidFill>
                  <a:srgbClr val="DDDDDD"/>
                </a:solidFill>
              </a:rPr>
              <a:t>Batas Perceptron &amp; ADALINE memotong tepat di area pemisah.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2 Sampel Meleset: </a:t>
            </a:r>
            <a:r>
              <a:rPr b="0">
                <a:solidFill>
                  <a:srgbClr val="DDDDDD"/>
                </a:solidFill>
              </a:rPr>
              <a:t>Titik merah dekat batas terklasifikasi hijau, dan sebaliknya karena overlap alami citra.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31920"/>
            <a:ext cx="5212080" cy="246888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BOUNDARY SKALA RAW (KANAN)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Batas Terdistorsi: </a:t>
            </a:r>
            <a:r>
              <a:rPr b="0">
                <a:solidFill>
                  <a:srgbClr val="DDDDDD"/>
                </a:solidFill>
              </a:rPr>
              <a:t>Perceptron tanpa standardisasi membentuk batas miring curam tak wajar.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Pemisahan Gagal: </a:t>
            </a:r>
            <a:r>
              <a:rPr b="0">
                <a:solidFill>
                  <a:srgbClr val="DDDDDD"/>
                </a:solidFill>
              </a:rPr>
              <a:t>Banyak sampel Good dan Rotten jatuh ke kuadran yang salah total.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645920" cy="3657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 · 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411480"/>
            <a:ext cx="8961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Ringkasan</a:t>
            </a:r>
            <a:r>
              <a:rPr dirty="0"/>
              <a:t> </a:t>
            </a:r>
            <a:r>
              <a:rPr dirty="0" err="1"/>
              <a:t>Eksekutif</a:t>
            </a:r>
            <a:r>
              <a:rPr dirty="0"/>
              <a:t> &amp; Kesimpulan</a:t>
            </a:r>
          </a:p>
          <a:p>
            <a:pPr>
              <a:defRPr sz="1200">
                <a:solidFill>
                  <a:srgbClr val="A0A0A0"/>
                </a:solidFill>
                <a:latin typeface="Arial"/>
              </a:defRPr>
            </a:pPr>
            <a:r>
              <a:rPr dirty="0" err="1"/>
              <a:t>Poin-poin</a:t>
            </a:r>
            <a:r>
              <a:rPr dirty="0"/>
              <a:t> inti </a:t>
            </a:r>
            <a:r>
              <a:rPr dirty="0" err="1"/>
              <a:t>hasil</a:t>
            </a:r>
            <a:r>
              <a:rPr dirty="0"/>
              <a:t> uji </a:t>
            </a:r>
            <a:r>
              <a:rPr lang="en-US" dirty="0"/>
              <a:t>- </a:t>
            </a:r>
            <a:r>
              <a:rPr dirty="0" err="1"/>
              <a:t>Tugas</a:t>
            </a:r>
            <a:r>
              <a:rPr dirty="0"/>
              <a:t> Besar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383280" cy="4937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1. LINEAR SEPARABILITY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 Hampir Linear: </a:t>
            </a:r>
            <a:r>
              <a:rPr b="0">
                <a:solidFill>
                  <a:srgbClr val="DDDDDD"/>
                </a:solidFill>
              </a:rPr>
              <a:t>Kualitas kentang Good vs Rotten dapat dipisahkan cukup baik hanya dengan 2 fitur warna.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Batas Overlap: </a:t>
            </a:r>
            <a:r>
              <a:rPr b="0">
                <a:solidFill>
                  <a:srgbClr val="DDDDDD"/>
                </a:solidFill>
              </a:rPr>
              <a:t>Kesalahan uji 3.33% (2/60 sampel) murni karena karakteristik fisik kentang yang beririsan di batas kematangan.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Bukan Overfitting: </a:t>
            </a:r>
            <a:r>
              <a:rPr b="0">
                <a:solidFill>
                  <a:srgbClr val="DDDDDD"/>
                </a:solidFill>
              </a:rPr>
              <a:t>Performa train (96.25%) dan test (96.67%) sangat seimbang.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280160"/>
            <a:ext cx="3474720" cy="4937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2. MODEL COMPARISON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Akurasi Sama: </a:t>
            </a:r>
            <a:r>
              <a:rPr b="0">
                <a:solidFill>
                  <a:srgbClr val="DDDDDD"/>
                </a:solidFill>
              </a:rPr>
              <a:t>Keduanya mencapai 96.67% pada uji data terstandardisasi.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Mekanisme Beda: </a:t>
            </a:r>
            <a:r>
              <a:rPr b="0">
                <a:solidFill>
                  <a:srgbClr val="DDDDDD"/>
                </a:solidFill>
              </a:rPr>
              <a:t>Perceptron belajar diskrit dari salah; ADALINE belajar gradien kontinu dari selisih output.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Perilaku η: </a:t>
            </a:r>
            <a:r>
              <a:rPr b="0">
                <a:solidFill>
                  <a:srgbClr val="DDDDDD"/>
                </a:solidFill>
              </a:rPr>
              <a:t>Pada Perceptron, η tidak mengubah arah batas. Pada ADALINE, η krusial menentukan kecepatan konvergensi.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280160"/>
            <a:ext cx="3291840" cy="4937760"/>
          </a:xfrm>
          <a:prstGeom prst="rect">
            <a:avLst/>
          </a:prstGeom>
          <a:solidFill>
            <a:srgbClr val="181818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600" b="1">
                <a:solidFill>
                  <a:srgbClr val="D32F2F"/>
                </a:solidFill>
                <a:latin typeface="Arial"/>
              </a:defRPr>
            </a:pPr>
            <a:r>
              <a:t>3. LESSON LEARNED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Wajib Preprocessing: </a:t>
            </a:r>
            <a:r>
              <a:rPr b="0">
                <a:solidFill>
                  <a:srgbClr val="DDDDDD"/>
                </a:solidFill>
              </a:rPr>
              <a:t>Tanpa standardisasi fitur, ADALINE divergen ke tak hingga dan Perceptron gagal.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Pengembangan: </a:t>
            </a:r>
            <a:r>
              <a:rPr b="0">
                <a:solidFill>
                  <a:srgbClr val="DDDDDD"/>
                </a:solidFill>
              </a:rPr>
              <a:t>Perlu fitur tekstur (GLCM) &amp; ruang warna HSV untuk menangani cacat permukaan non-warna.</a:t>
            </a:r>
          </a:p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Status Implementasi: </a:t>
            </a:r>
            <a:r>
              <a:rPr b="0">
                <a:solidFill>
                  <a:srgbClr val="DDDDDD"/>
                </a:solidFill>
              </a:rPr>
              <a:t>Kode NumPy mandiri 100% lolos validasi.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1082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Lenovo IP</cp:lastModifiedBy>
  <cp:revision>3</cp:revision>
  <dcterms:created xsi:type="dcterms:W3CDTF">2013-01-27T09:14:16Z</dcterms:created>
  <dcterms:modified xsi:type="dcterms:W3CDTF">2026-10-12T17:13:24Z</dcterms:modified>
  <cp:category/>
</cp:coreProperties>
</file>